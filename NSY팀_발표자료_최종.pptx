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10-4AD3-8F62-24B9E6791176}"/>
              </c:ext>
            </c:extLst>
          </c:dPt>
          <c:dPt>
            <c:idx val="1"/>
            <c:bubble3D val="0"/>
            <c:spPr>
              <a:solidFill>
                <a:srgbClr val="0FB5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10-4AD3-8F62-24B9E6791176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10-4AD3-8F62-24B9E6791176}"/>
              </c:ext>
            </c:extLst>
          </c:dPt>
          <c:dPt>
            <c:idx val="3"/>
            <c:bubble3D val="0"/>
            <c:spPr>
              <a:solidFill>
                <a:srgbClr val="7C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10-4AD3-8F62-24B9E6791176}"/>
              </c:ext>
            </c:extLst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10-4AD3-8F62-24B9E679117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10-4AD3-8F62-24B9E679117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10-4AD3-8F62-24B9E679117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10-4AD3-8F62-24B9E679117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10-4AD3-8F62-24B9E679117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910-4AD3-8F62-24B9E679117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완전성</c:v>
                </c:pt>
                <c:pt idx="1">
                  <c:v>유효성</c:v>
                </c:pt>
                <c:pt idx="2">
                  <c:v>일관성</c:v>
                </c:pt>
                <c:pt idx="3">
                  <c:v>이상치</c:v>
                </c:pt>
                <c:pt idx="4">
                  <c:v>유일성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910-4AD3-8F62-24B9E6791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263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DE-4D82-AB0D-A9DB9DADB735}"/>
              </c:ext>
            </c:extLst>
          </c:dPt>
          <c:dPt>
            <c:idx val="1"/>
            <c:invertIfNegative val="0"/>
            <c:bubble3D val="0"/>
            <c:spPr>
              <a:solidFill>
                <a:srgbClr val="0FB5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DE-4D82-AB0D-A9DB9DADB735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DE-4D82-AB0D-A9DB9DADB735}"/>
              </c:ext>
            </c:extLst>
          </c:dPt>
          <c:dPt>
            <c:idx val="3"/>
            <c:invertIfNegative val="0"/>
            <c:bubble3D val="0"/>
            <c:spPr>
              <a:solidFill>
                <a:srgbClr val="7C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DE-4D82-AB0D-A9DB9DADB735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EDE-4D82-AB0D-A9DB9DADB7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7263B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완전성</c:v>
                </c:pt>
                <c:pt idx="1">
                  <c:v>유효성</c:v>
                </c:pt>
                <c:pt idx="2">
                  <c:v>일관성</c:v>
                </c:pt>
                <c:pt idx="3">
                  <c:v>이상치</c:v>
                </c:pt>
                <c:pt idx="4">
                  <c:v>유일성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100</c:v>
                </c:pt>
                <c:pt idx="2">
                  <c:v>100</c:v>
                </c:pt>
                <c:pt idx="3">
                  <c:v>92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EDE-4D82-AB0D-A9DB9DADB7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6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617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프로젝트명과 한 줄 정의, 팀 구성 소개. '데이터가 AI 학습에 적합한지 사전에 진단하고 개선 방향까지 제시하는 도구'라는 한 문장으로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핵심: 모델 성능은 알고리즘보다 입력 데이터 품질에 좌우된다. 문제를 사전에 못 잡으면 개발 후 재작업 악순환. 그래서 사전·자동·객관 진단이 필요하다는 흐름으로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정의: 품질 문제를 사전 탐지 못 해 성능 저하·지연이 생기는 구조적 문제. 이를 진단체계→자동로직→AI가이드→결과제공 4단계로 해결. 각 단계가 뒤 슬라이드의 기술로 이어진다고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 후 파이프라인 6단계를 왼쪽에서 오른쪽으로. 업로드→프로파일링→5지표 진단→점수·등급→AI가이드→대시보드. 사용자는 파일만 올리면 끝, 나머지는 자동.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3대 차별점. ① LLM 가이드=처방까지. ② 3중 다수결=오탐 억제(왜 복합인지 뒤에서 상술). ③ 정부 가이드라인 기반=평가 기준의 객관성. 심사 방어의 핵심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0407-322D-D815-C959-0A1B76DAB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E0412-DF7E-23AD-1BD1-E3CF88B0A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85AAF-A963-4676-92D6-C4D7ACBB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5계층: 사용자→Streamlit→FastAPI→(데이터 처리 엔진 / MySQL / Claude API). 백엔드가 진단을 오케스트레이션하고 세 하위 계층을 조율. 각 계층 역할 한 줄씩.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5F2C1-3282-93F8-8EB7-3B3B1B0AC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35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기술 스택 — 역할별 6개 계층: 데이터 처리(Pandas/NumPy), 품질 진단 알고리즘(IQR·Z-Score·Isolation Forest), 백엔드 API(FastAPI), 웹 대시보드(Streamlit), 진단 이력(MySQL), AI 개선 가이드(Claude API). 진단 로직과 서비스·이력·AI를 계층으로 분리 구현했다는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5대 지표와 산식, 가중치. 도넛으로 가중치 비중을 시각화. 완전성이 30%로 가장 크고, 산식은 모두 (1 − 오류/전체)×100 형태로 일관. 이상치만 행 기준(뒤에서 이유 설명).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이상치 탐지 방어 포인트. 세 방법을 다수결(2표 이상)로 결합해 오탐을 억제. 점수는 셀이 아니라 '행' 기준(한 행에 이상치 셀이 하나라도 있으면 그 행을 이상치 행으로) — 명세 기준과 일치. [Q&amp;A 대비] 이상치 탐지는 모든 수치형 컬럼에 적용되므로, 지번(본번·부번)처럼 식별자 성격의 정수 컬럼은 통계적 이상치로 잡힐 수 있음 → 키워드로 일부 제외하며, 이는 알려진 한계라고 솔직히 답할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진단 결과를 Claude API에 넘겨 종합평가·원인분석·개선 우선순위·기대효과를 자연어로 생성. 두 강점: (1) 비전문가 대상 실행 가능한 처방, (2) API 실패 시 규칙 기반 폴백으로 안정성 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종합점수는 지표점수와 가중치의 가중합. 가중치는 사용자가 조정해도 합 1로 자동 정규화. 등급 경계는 이상/미만으로 딱 떨어지게 설계(경계 중복·누락 없음). S는 97 이상.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 슬라이드. 세 공공데이터 실측 → 실거래가 A(96.6), 미세먼지 S(98.7), 교통사고 S(98.8)로 등급을 구분해 산출(도구가 변별력 있게 동작). 실거래가 완전성 92는 '-' 표기(해제사유발생일 등 정상값)를 결측으로 집계한 결과이며 실제 빈칸은 26개 — Q&amp;A에서 이 점을 설명할 것. 미세먼지 이상치 92는 고농도 관측을 정상 탐지한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5개 탭으로 구성. 개요·5지표 상세·시각화·컬럼 드릴다운·데이터 이슈. 진단 이력은 MySQL에 저장돼 추이까지 확인. 다크 테마 대시보드로 가독성 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 4가지: 성능 저하 예방, 의사결정 신뢰성, 기업·공공 활용성, 팀의 실무 역량. 도구 가치와 프로젝트 학습 성과를 함께 강조하며 마무리로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한 문장 메시지로 요약하고 Q&amp;A로 넘어간다. 준비된 방어 포인트: (1) 이상치의 지번 컬럼 한계, (2) '-'를 결측으로 볼지의 기준, (3) 등급이 높게 나온 이유는 실제 데이터가 깨끗했기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6012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0000" y="4572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6868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584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156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430000" y="9144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6868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6012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584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5156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9728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430000" y="13716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6868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0584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5156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9728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1430000" y="1828800"/>
            <a:ext cx="64008" cy="64008"/>
          </a:xfrm>
          <a:prstGeom prst="ellipse">
            <a:avLst/>
          </a:prstGeom>
          <a:solidFill>
            <a:srgbClr val="0FB5D6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77240" y="96012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729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72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미래내일 일경험 · 하이버스(주)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1828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731520" y="27889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</a:t>
            </a:r>
            <a:r>
              <a:rPr lang="en-US" sz="6000" b="1" dirty="0">
                <a:solidFill>
                  <a:srgbClr val="07E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Scorecard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77724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고품질 데이터 자산화를 위한 AI 기반 스마트 데이터 품질 진단 시스템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NSY팀   </a:t>
            </a:r>
            <a:r>
              <a:rPr lang="en-US" sz="1400" dirty="0">
                <a:solidFill>
                  <a:srgbClr val="AFC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노건우 · 송현우 · 양진희</a:t>
            </a:r>
            <a:r>
              <a:rPr lang="en-US" sz="1400" dirty="0">
                <a:solidFill>
                  <a:srgbClr val="6E85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멘토 </a:t>
            </a:r>
            <a:r>
              <a:rPr lang="en-US" sz="1400" dirty="0">
                <a:solidFill>
                  <a:srgbClr val="AFC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이정일 교수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추진 배경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성패는 알고리즘이 아니라 데이터 품질이 좌우한다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4880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데이터의 복합 품질 문제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결측치·이상치·형식 불일치·중복이 뒤섞여 존재하는 경우가 대부분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228600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2488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00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도구·전문 인력의 부재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3749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중소기업·공공기관은 품질을 객관적으로 파악하지 못한 채 착수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366760" y="2286000"/>
            <a:ext cx="777240" cy="777240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842" y="2488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뒤늦은 발견의 악순환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66760" y="3749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개발 완료 후 성능 저하 발견 → 재수집·재가공에 비용·시간 낭비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75488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09320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7548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지식과 무관하게 </a:t>
            </a:r>
            <a:r>
              <a:rPr lang="en-US" sz="1650" b="1" dirty="0">
                <a:solidFill>
                  <a:srgbClr val="07E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데이터 품질을 사전에 진단</a:t>
            </a: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개선 방향을 도출하는 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진단 도구가 필요하다.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문제 정의와 해결 접근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진단으로 악순환을 끊는다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60320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313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148840" y="2350008"/>
            <a:ext cx="713232" cy="713232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280" y="25354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체계 설계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핵심 지표 정의 + 항목별 가중치를 적용한 정량 평가 기준(Data Scorecard) 수립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42900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057400"/>
            <a:ext cx="2560320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3703320" y="2313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4937760" y="2350008"/>
            <a:ext cx="713232" cy="713232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200" y="2535448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진단 로직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703320" y="37947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Pandas·Scikit-learn 진단 엔진 — 복합 이상치 탐지, 형식 오류 자동 감지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3429000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2057400"/>
            <a:ext cx="2560320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6492240" y="2313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7726680" y="2350008"/>
            <a:ext cx="713232" cy="713232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120" y="2535448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922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개선 가이드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92240" y="37947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결과를 LLM에 전달해 원인 분석·개선 방향을 자연어로 자동 생성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3429000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06840" y="2057400"/>
            <a:ext cx="2560320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9281160" y="2313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19"/>
          <p:cNvSpPr/>
          <p:nvPr/>
        </p:nvSpPr>
        <p:spPr>
          <a:xfrm>
            <a:off x="10515600" y="2350008"/>
            <a:ext cx="713232" cy="713232"/>
          </a:xfrm>
          <a:prstGeom prst="ellipse">
            <a:avLst/>
          </a:prstGeom>
          <a:solidFill>
            <a:srgbClr val="3B82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1040" y="2535448"/>
            <a:ext cx="342351" cy="34235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811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제공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9281160" y="37947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대시보드 시각화 + AI-Ready 등급(S~F)으로 의사결정 지원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프로젝트 개요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한 번으로 데이터의 AI 활용 적합성을 진단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“AI-Ready Data Scorecard”</a:t>
            </a:r>
            <a:r>
              <a:rPr lang="en-US" sz="1500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사용자가 업로드한 데이터셋을 5대 품질 지표로 분석해 </a:t>
            </a: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점수와 AI-Ready 등급</a:t>
            </a:r>
            <a:r>
              <a:rPr lang="en-US" sz="1500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산출하고, 개선 가이드를 자연어로 제공한다.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A7AEF48-AEE1-1D84-8718-48EC5F8963CB}"/>
              </a:ext>
            </a:extLst>
          </p:cNvPr>
          <p:cNvGrpSpPr/>
          <p:nvPr/>
        </p:nvGrpSpPr>
        <p:grpSpPr>
          <a:xfrm>
            <a:off x="1197864" y="3542274"/>
            <a:ext cx="705465" cy="699669"/>
            <a:chOff x="1115568" y="3474720"/>
            <a:chExt cx="749808" cy="749808"/>
          </a:xfrm>
        </p:grpSpPr>
        <p:sp>
          <p:nvSpPr>
            <p:cNvPr id="7" name="Shape 5"/>
            <p:cNvSpPr/>
            <p:nvPr/>
          </p:nvSpPr>
          <p:spPr>
            <a:xfrm>
              <a:off x="1115568" y="3474720"/>
              <a:ext cx="749808" cy="749808"/>
            </a:xfrm>
            <a:prstGeom prst="ellipse">
              <a:avLst/>
            </a:prstGeom>
            <a:solidFill>
              <a:srgbClr val="0E7490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0518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9" name="Text 6"/>
          <p:cNvSpPr/>
          <p:nvPr/>
        </p:nvSpPr>
        <p:spPr>
          <a:xfrm>
            <a:off x="795528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95528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· Excel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967" y="4192487"/>
            <a:ext cx="172065" cy="17206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42032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4E42D2A-A7E9-5A38-450B-CE34CD74FDB9}"/>
              </a:ext>
            </a:extLst>
          </p:cNvPr>
          <p:cNvGrpSpPr/>
          <p:nvPr/>
        </p:nvGrpSpPr>
        <p:grpSpPr>
          <a:xfrm>
            <a:off x="2989399" y="3542274"/>
            <a:ext cx="705465" cy="699669"/>
            <a:chOff x="2935224" y="3474720"/>
            <a:chExt cx="749808" cy="749808"/>
          </a:xfrm>
        </p:grpSpPr>
        <p:sp>
          <p:nvSpPr>
            <p:cNvPr id="13" name="Shape 9"/>
            <p:cNvSpPr/>
            <p:nvPr/>
          </p:nvSpPr>
          <p:spPr>
            <a:xfrm>
              <a:off x="2935224" y="3474720"/>
              <a:ext cx="749808" cy="749808"/>
            </a:xfrm>
            <a:prstGeom prst="ellipse">
              <a:avLst/>
            </a:prstGeom>
            <a:solidFill>
              <a:srgbClr val="0FB5D6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0174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15" name="Text 10"/>
          <p:cNvSpPr/>
          <p:nvPr/>
        </p:nvSpPr>
        <p:spPr>
          <a:xfrm>
            <a:off x="2615184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프로파일링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615184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dtype·결측·분포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623" y="4192487"/>
            <a:ext cx="172065" cy="17206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61688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1C19D90-B6A8-B0B0-C6A3-7928F614C577}"/>
              </a:ext>
            </a:extLst>
          </p:cNvPr>
          <p:cNvGrpSpPr/>
          <p:nvPr/>
        </p:nvGrpSpPr>
        <p:grpSpPr>
          <a:xfrm>
            <a:off x="4809055" y="3542274"/>
            <a:ext cx="705465" cy="699669"/>
            <a:chOff x="4754880" y="3474720"/>
            <a:chExt cx="749808" cy="749808"/>
          </a:xfrm>
        </p:grpSpPr>
        <p:sp>
          <p:nvSpPr>
            <p:cNvPr id="19" name="Shape 13"/>
            <p:cNvSpPr/>
            <p:nvPr/>
          </p:nvSpPr>
          <p:spPr>
            <a:xfrm>
              <a:off x="4754880" y="3474720"/>
              <a:ext cx="749808" cy="749808"/>
            </a:xfrm>
            <a:prstGeom prst="ellipse">
              <a:avLst/>
            </a:prstGeom>
            <a:solidFill>
              <a:srgbClr val="7C5CFF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9830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21" name="Text 14"/>
          <p:cNvSpPr/>
          <p:nvPr/>
        </p:nvSpPr>
        <p:spPr>
          <a:xfrm>
            <a:off x="4434840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지표 진단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434840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완전·유효·일관·이상·유일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279" y="4192487"/>
            <a:ext cx="172065" cy="17206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181344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35E7A1-9EE1-DF65-1A99-C7B9F71C241D}"/>
              </a:ext>
            </a:extLst>
          </p:cNvPr>
          <p:cNvGrpSpPr/>
          <p:nvPr/>
        </p:nvGrpSpPr>
        <p:grpSpPr>
          <a:xfrm>
            <a:off x="6628711" y="3542274"/>
            <a:ext cx="705465" cy="699669"/>
            <a:chOff x="6574536" y="3474720"/>
            <a:chExt cx="749808" cy="749808"/>
          </a:xfrm>
        </p:grpSpPr>
        <p:sp>
          <p:nvSpPr>
            <p:cNvPr id="25" name="Shape 17"/>
            <p:cNvSpPr/>
            <p:nvPr/>
          </p:nvSpPr>
          <p:spPr>
            <a:xfrm>
              <a:off x="6574536" y="3474720"/>
              <a:ext cx="749808" cy="749808"/>
            </a:xfrm>
            <a:prstGeom prst="ellipse">
              <a:avLst/>
            </a:prstGeom>
            <a:solidFill>
              <a:srgbClr val="3B82F6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6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69486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27" name="Text 18"/>
          <p:cNvSpPr/>
          <p:nvPr/>
        </p:nvSpPr>
        <p:spPr>
          <a:xfrm>
            <a:off x="6254496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 산출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254496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Σ(점수×가중치) → S~F</a:t>
            </a:r>
            <a:endParaRPr lang="en-US" sz="10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935" y="4192487"/>
            <a:ext cx="172065" cy="17206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001000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B4996C4-0BCF-E502-B204-D7FD18E1C2E3}"/>
              </a:ext>
            </a:extLst>
          </p:cNvPr>
          <p:cNvGrpSpPr/>
          <p:nvPr/>
        </p:nvGrpSpPr>
        <p:grpSpPr>
          <a:xfrm>
            <a:off x="8448367" y="3553620"/>
            <a:ext cx="705465" cy="699669"/>
            <a:chOff x="8394192" y="3474720"/>
            <a:chExt cx="749808" cy="749808"/>
          </a:xfrm>
        </p:grpSpPr>
        <p:sp>
          <p:nvSpPr>
            <p:cNvPr id="31" name="Shape 21"/>
            <p:cNvSpPr/>
            <p:nvPr/>
          </p:nvSpPr>
          <p:spPr>
            <a:xfrm>
              <a:off x="8394192" y="3474720"/>
              <a:ext cx="749808" cy="749808"/>
            </a:xfrm>
            <a:prstGeom prst="ellipse">
              <a:avLst/>
            </a:prstGeom>
            <a:solidFill>
              <a:srgbClr val="7C5CFF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89142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33" name="Text 22"/>
          <p:cNvSpPr/>
          <p:nvPr/>
        </p:nvSpPr>
        <p:spPr>
          <a:xfrm>
            <a:off x="8074152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개선 가이드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8074152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자연어 처방</a:t>
            </a:r>
            <a:endParaRPr lang="en-US" sz="10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591" y="4192487"/>
            <a:ext cx="172065" cy="172065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9820656" y="3361506"/>
            <a:ext cx="1600200" cy="2005149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0838D56-3D33-84EA-C33E-50F7697F2C91}"/>
              </a:ext>
            </a:extLst>
          </p:cNvPr>
          <p:cNvGrpSpPr/>
          <p:nvPr/>
        </p:nvGrpSpPr>
        <p:grpSpPr>
          <a:xfrm>
            <a:off x="10268023" y="3553619"/>
            <a:ext cx="705465" cy="699669"/>
            <a:chOff x="10213848" y="3474720"/>
            <a:chExt cx="749808" cy="749808"/>
          </a:xfrm>
        </p:grpSpPr>
        <p:sp>
          <p:nvSpPr>
            <p:cNvPr id="37" name="Shape 25"/>
            <p:cNvSpPr/>
            <p:nvPr/>
          </p:nvSpPr>
          <p:spPr>
            <a:xfrm>
              <a:off x="10213848" y="3474720"/>
              <a:ext cx="749808" cy="749808"/>
            </a:xfrm>
            <a:prstGeom prst="ellipse">
              <a:avLst/>
            </a:prstGeom>
            <a:solidFill>
              <a:srgbClr val="0E7490"/>
            </a:solidFill>
            <a:ln/>
            <a:effectLst>
              <a:outerShdw blurRad="88900" dist="25400" dir="5400000" algn="bl" rotWithShape="0">
                <a:srgbClr val="20476B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8" name="Image 1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08798" y="3669670"/>
              <a:ext cx="359908" cy="359908"/>
            </a:xfrm>
            <a:prstGeom prst="rect">
              <a:avLst/>
            </a:prstGeom>
          </p:spPr>
        </p:pic>
      </p:grpSp>
      <p:sp>
        <p:nvSpPr>
          <p:cNvPr id="39" name="Text 26"/>
          <p:cNvSpPr/>
          <p:nvPr/>
        </p:nvSpPr>
        <p:spPr>
          <a:xfrm>
            <a:off x="9893808" y="4424934"/>
            <a:ext cx="1462548" cy="51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50" dirty="0"/>
          </a:p>
        </p:txBody>
      </p:sp>
      <p:sp>
        <p:nvSpPr>
          <p:cNvPr id="40" name="Text 27"/>
          <p:cNvSpPr/>
          <p:nvPr/>
        </p:nvSpPr>
        <p:spPr>
          <a:xfrm>
            <a:off x="9893808" y="4935136"/>
            <a:ext cx="1462548" cy="35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· 이력 저장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차별화 포인트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진단 도구와 무엇이 다른가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70332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868680" cy="868680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26032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0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자연어 개선 가이드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수치 나열이 아니라, 문제 원인과 개선 우선순위를 비전문가도 바로 실행 가능한 문장으로 제시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429000" cy="370332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63440" y="2377440"/>
            <a:ext cx="868680" cy="868680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260329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63440" y="34747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복합 이상치 탐지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42519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IQR·Z-Score·Isolation Forest를 다수결로 결합 — 단일 알고리즘의 오탐을 상호 검증으로 억제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2011680"/>
            <a:ext cx="3429000" cy="370332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366760" y="2377440"/>
            <a:ext cx="868680" cy="86868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617" y="260329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61320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5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66760" y="34747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DQ 인증 기준 반영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6760" y="42519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ko-KR" alt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</a:t>
            </a:r>
            <a:r>
              <a:rPr lang="en-US" altLang="ko-KR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 </a:t>
            </a:r>
            <a:r>
              <a:rPr lang="ko-KR" alt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기준을 참고하고</a:t>
            </a:r>
            <a:r>
              <a:rPr lang="en-US" altLang="ko-KR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</a:rPr>
              <a:t>AI </a:t>
            </a:r>
            <a:r>
              <a:rPr lang="ko-KR" alt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</a:rPr>
              <a:t>활용 적합성 판단에 맞게 팀 자체</a:t>
            </a:r>
            <a:endParaRPr lang="en-US" altLang="ko-KR" sz="1300" dirty="0">
              <a:solidFill>
                <a:srgbClr val="5B7089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ko-KR" alt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</a:rPr>
              <a:t>가중치를 설계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6FD0-7123-F581-30EB-6E38A58E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7160A-25FA-3FE0-CEA6-FE15AF41B1CC}"/>
              </a:ext>
            </a:extLst>
          </p:cNvPr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시스템 아키텍처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C6EB14-2397-2427-3297-CCAB8B68FFF3}"/>
              </a:ext>
            </a:extLst>
          </p:cNvPr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5계층 구조</a:t>
            </a:r>
            <a:endParaRPr lang="en-US" sz="2900" dirty="0"/>
          </a:p>
        </p:txBody>
      </p:sp>
      <p:pic>
        <p:nvPicPr>
          <p:cNvPr id="43" name="Image 0">
            <a:extLst>
              <a:ext uri="{FF2B5EF4-FFF2-40B4-BE49-F238E27FC236}">
                <a16:creationId xmlns:a16="http://schemas.microsoft.com/office/drawing/2014/main" id="{A9B28870-EFB6-0E27-87BB-C49F061AD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016" y="1331210"/>
            <a:ext cx="10629008" cy="538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0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14813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진단부터 웹 대시보드, 이력 저장, AI 개선 가이드까지 역할별로 구성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464040" y="566928"/>
            <a:ext cx="2103120" cy="841248"/>
          </a:xfrm>
          <a:prstGeom prst="roundRect">
            <a:avLst>
              <a:gd name="adj" fmla="val 13043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464040" y="56692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중심의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데이터 진단 시스템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267712"/>
            <a:ext cx="749808" cy="749808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50" y="2462662"/>
            <a:ext cx="359908" cy="3599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47088" y="2258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47088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Pandas · NumPy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31729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CSV/Excel 로딩, dtype·결측·중복·분포 등 자동 프로파일링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79976" y="196596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54296" y="2267712"/>
            <a:ext cx="749808" cy="749808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246" y="2462662"/>
            <a:ext cx="359908" cy="3599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86984" y="2258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진단 알고리즘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586984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7C5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· Z-Score · Isolation Forest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654296" y="31729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품질 지표 산출 및 수치형 컬럼의 3중 복합 이상치 탐지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19872" y="196596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394192" y="2267712"/>
            <a:ext cx="749808" cy="749808"/>
          </a:xfrm>
          <a:prstGeom prst="ellipse">
            <a:avLst/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142" y="2462662"/>
            <a:ext cx="359908" cy="3599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26880" y="2258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326880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REST API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394192" y="31729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업로드, 진단 실행, 점수 계산, LLM 연동 결과 반환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397764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914400" y="4279392"/>
            <a:ext cx="749808" cy="749808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350" y="4474342"/>
            <a:ext cx="359908" cy="3599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47088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대시보드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847088" y="4654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4400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점수·등급, 지표별 차트, 컬럼별 품질 요약 화면 제공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79976" y="397764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4654296" y="4279392"/>
            <a:ext cx="749808" cy="749808"/>
          </a:xfrm>
          <a:prstGeom prst="ellipse">
            <a:avLst/>
          </a:prstGeom>
          <a:solidFill>
            <a:srgbClr val="E3832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246" y="4474342"/>
            <a:ext cx="359908" cy="3599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86984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이력 저장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5586984" y="4654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38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· DB CRUD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4654296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저장·조회·삭제 및 분석 이력 관리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119872" y="3977640"/>
            <a:ext cx="342900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8394192" y="4279392"/>
            <a:ext cx="749808" cy="749808"/>
          </a:xfrm>
          <a:prstGeom prst="ellipse">
            <a:avLst/>
          </a:prstGeom>
          <a:solidFill>
            <a:srgbClr val="6D5AE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9142" y="4474342"/>
            <a:ext cx="359908" cy="3599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326880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개선 가이드 / 협업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9326880" y="4654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D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394192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기반 자연어 개선 방향 생성, GitHub·Notion·VS Code로 협업/개발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40080" y="59893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/>
          <p:nvPr/>
        </p:nvSpPr>
        <p:spPr>
          <a:xfrm>
            <a:off x="914400" y="59893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2148840" y="5989320"/>
            <a:ext cx="9189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로직은 Pandas·Scikit-learn 중심, 서비스 제공은 FastAPI·Streamlit, 이력 관리는 MySQL, 개선 가이드는 Claude API로 분리 구현</a:t>
            </a:r>
            <a:endParaRPr lang="en-US" sz="1250" dirty="0"/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9A0178E2-AE4E-3384-F5E7-1C1FB66609CF}"/>
              </a:ext>
            </a:extLst>
          </p:cNvPr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</a:t>
            </a:r>
            <a:r>
              <a:rPr lang="ko-KR" alt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 및 개발 환경</a:t>
            </a:r>
            <a:endParaRPr lang="en-US" sz="1150" dirty="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B83D5740-9CFF-F6AF-4586-FF10AFEF23DD}"/>
              </a:ext>
            </a:extLst>
          </p:cNvPr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ko-KR" alt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기술 스택</a:t>
            </a:r>
            <a:endParaRPr lang="en-US"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5대 품질 지표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기반 정량 평가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920240"/>
          <a:ext cx="4206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가중치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230368" y="213055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23036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5216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완전성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5216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셀이 적을수록 높음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0" y="196596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 − 결측) / 전체 × 100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607040" y="1965960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0" y="2807208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230368" y="2971800"/>
            <a:ext cx="457200" cy="457200"/>
          </a:xfrm>
          <a:prstGeom prst="ellipse">
            <a:avLst/>
          </a:prstGeom>
          <a:solidFill>
            <a:srgbClr val="0FB5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23036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52160" y="2916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유효성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5216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타입·형식·허용범위 위반 검출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0" y="280720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 − 무효) / 전체 × 100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607040" y="2807208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0" y="3648456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230368" y="38130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23036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852160" y="3758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852160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공백·대소문자·날짜 형식 통일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0" y="3648456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 − 비일관) / 전체 × 100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607040" y="364845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29200" y="4489704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5230368" y="4654296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230368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852160" y="4599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85216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알고리즘 다수결(행 기준)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772400" y="4489704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(전체행 − 이상치행) / 전체행 × 100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607040" y="4489704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C5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29200" y="5330952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5230368" y="549554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230368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852160" y="5440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유일성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585216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행 검사 + 키 컬럼 참고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772400" y="5330952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 − 중복행) / 전체 × 100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607040" y="5330952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핵심 기술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복합 이상치 탐지 — 다수결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28600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08176" y="2331720"/>
            <a:ext cx="749808" cy="749808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126" y="252667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935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사분위 범위 기준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Q1−1.5·IQR ~ Q3+1.5·IQR 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2057400"/>
            <a:ext cx="228600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922776" y="2331720"/>
            <a:ext cx="749808" cy="749808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726" y="252667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Z-Score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91840" y="35935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 기준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|Z| ≥ 3 인 값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2057400"/>
            <a:ext cx="228600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37376" y="2331720"/>
            <a:ext cx="749808" cy="749808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26" y="252667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607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806440" y="35935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기반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이상 탐지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017520"/>
            <a:ext cx="365760" cy="365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778240" y="2057400"/>
            <a:ext cx="2788920" cy="22860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9761220" y="233172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190" y="2545690"/>
            <a:ext cx="395021" cy="3950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69680" y="3246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이상 알고리즘이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동의하면 이상치로 확정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869680" y="39502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7E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 기준 점수 산출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4709160"/>
            <a:ext cx="10927080" cy="1143000"/>
          </a:xfrm>
          <a:prstGeom prst="roundRect">
            <a:avLst>
              <a:gd name="adj" fmla="val 9600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14400" y="4956048"/>
            <a:ext cx="658368" cy="658368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576" y="5127224"/>
            <a:ext cx="316017" cy="31601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73736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복합인가?  </a:t>
            </a:r>
            <a:r>
              <a:rPr lang="en-US" sz="1350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알고리즘은 데이터 분포에 따라 정상값을 이상치로 오탐하기 쉽다. 세 방식의 </a:t>
            </a: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다수결로 서로의 오탐을 상호 검증</a:t>
            </a:r>
            <a:r>
              <a:rPr lang="en-US" sz="1350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해, 오류 가능성이 높은 행을 보수적으로 선별한다.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핵심 기술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개선 가이드 자동 생성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85900" y="233172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8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지표 진단 결과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697480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03320" y="21031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549140" y="2331720"/>
            <a:ext cx="777240" cy="777240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222" y="2533802"/>
            <a:ext cx="373075" cy="3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697480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766560" y="21031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6931152" y="21854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평가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931152" y="245059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등급·점수로 AI 활용 가능성 진단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9217152" y="21031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9381744" y="21854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원인 분석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381744" y="245059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근거로 취약 지표 설명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766560" y="29260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6931152" y="30083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우선순위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931152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시급한 것부터 실행안 제시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9217152" y="29260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9381744" y="30083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381744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후 예상 등급·점수 향상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0080" y="4160520"/>
            <a:ext cx="5349240" cy="16916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1" y="460126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비전문가도 즉시 조치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914400" y="50749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용어 나열이 아니라, 무엇을·왜·어떻게 고칠지 실행 가능한 문장으로 안내한다.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17920" y="4160520"/>
            <a:ext cx="5349240" cy="16916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492240" y="443484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661" y="4601261"/>
            <a:ext cx="307238" cy="3072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6948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장애에도 끊기지 않는 설계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492240" y="50749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미설정·호출 실패 시 규칙 기반 요약으로 자동 폴백해 결과 제공이 중단되지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점수화 &amp; 등급 체계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점수와 AI-Ready 등급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  =  </a:t>
            </a:r>
            <a:r>
              <a:rPr lang="en-US" sz="1900" b="1" dirty="0">
                <a:solidFill>
                  <a:srgbClr val="07E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 ( 지표 점수 × 가중치 )</a:t>
            </a:r>
            <a:r>
              <a:rPr lang="en-US" sz="19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·  가중치 합은 1로 자동 정규화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103120" cy="251460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11580" y="3493008"/>
            <a:ext cx="960120" cy="960120"/>
          </a:xfrm>
          <a:prstGeom prst="ellipse">
            <a:avLst/>
          </a:prstGeom>
          <a:solidFill>
            <a:srgbClr val="8B5C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11580" y="3493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97점 이상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50109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학습 가능 — 매우 우수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3200400"/>
            <a:ext cx="2103120" cy="251460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406140" y="3493008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06140" y="3493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92608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 – 97점 미만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44368" y="50109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경미한 보완 — 우수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2103120" cy="251460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00700" y="3493008"/>
            <a:ext cx="960120" cy="960120"/>
          </a:xfrm>
          <a:prstGeom prst="ellipse">
            <a:avLst/>
          </a:prstGeom>
          <a:solidFill>
            <a:srgbClr val="3B82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00700" y="3493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12064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– 90점 미만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38928" y="50109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전처리 권장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3200400"/>
            <a:ext cx="2103120" cy="251460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795260" y="3493008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95260" y="3493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31520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– 80점 미만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33488" y="50109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필요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18320" y="3200400"/>
            <a:ext cx="2103120" cy="251460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989820" y="3493008"/>
            <a:ext cx="960120" cy="960120"/>
          </a:xfrm>
          <a:prstGeom prst="ellipse">
            <a:avLst/>
          </a:prstGeom>
          <a:solidFill>
            <a:srgbClr val="EF4444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989820" y="3493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50976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70점 미만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528048" y="50109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부적합 — 광범위 정제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적용 결과 · 공공데이터 실측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3종 진단 결과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93392" y="2139696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아파트(매매) 실거래가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93392" y="2633472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국토교통부 · 78,150행 × 20열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93392" y="327355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96.6</a:t>
            </a: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960120" cy="960120"/>
          </a:xfrm>
          <a:prstGeom prst="ellipse">
            <a:avLst/>
          </a:prstGeom>
          <a:solidFill>
            <a:srgbClr val="8B5C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96712" y="2139696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시간별(초)미세먼지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96712" y="2633472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자치구별 시간별 PM10/PM2.5 (2025) · 227,760행 × 4열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96712" y="327355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98.7</a:t>
            </a: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42900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321040" y="2377440"/>
            <a:ext cx="960120" cy="960120"/>
          </a:xfrm>
          <a:prstGeom prst="ellipse">
            <a:avLst/>
          </a:prstGeom>
          <a:solidFill>
            <a:srgbClr val="8B5C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00032" y="2139696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고속도로 노선별 교통사고 현황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00032" y="2633472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도로교통공단 · 38행 × 4열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00032" y="327355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98.8</a:t>
            </a: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실거래가 — 5대 지표 </a:t>
            </a:r>
            <a:r>
              <a:rPr lang="en-US" sz="1300" b="1" dirty="0" err="1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</a:t>
            </a:r>
            <a:r>
              <a:rPr lang="en-US" sz="13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3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ko-KR" sz="1300" b="1" dirty="0">
                <a:latin typeface="+mn-ea"/>
              </a:rPr>
              <a:t>※ 세부 점수는 반올림 표시</a:t>
            </a:r>
            <a:r>
              <a:rPr lang="en-US" altLang="ko-KR" sz="1300" b="1" dirty="0"/>
              <a:t>)</a:t>
            </a:r>
            <a:endParaRPr lang="en-US" sz="1300" b="1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02920" y="4343400"/>
          <a:ext cx="65836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452360" y="4023360"/>
            <a:ext cx="4114800" cy="2560320"/>
          </a:xfrm>
          <a:prstGeom prst="roundRect">
            <a:avLst>
              <a:gd name="adj" fmla="val 3929"/>
            </a:avLst>
          </a:prstGeom>
          <a:solidFill>
            <a:srgbClr val="EEF3F8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726680" y="4187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요약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26680" y="46268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78,150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281160" y="46268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행 수 (20개 컬럼)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26680" y="50840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281160" y="50840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빈칸  ·  그 외 '-' 표기 118,441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26680" y="55412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81160" y="55412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행 · 타입 오류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26680" y="5998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96.6 → A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281160" y="59984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 · 등급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결과 화면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대시보드로 직관적으로 확인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2688" y="2304288"/>
            <a:ext cx="731520" cy="731520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4944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&amp; 종합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점수·등급, 핵심 KPI, AI 요약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636008" y="2304288"/>
            <a:ext cx="731520" cy="73152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03" y="249448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지표 상세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36008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레이더·막대 차트로 지표별 비교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339328" y="2304288"/>
            <a:ext cx="731520" cy="731520"/>
          </a:xfrm>
          <a:prstGeom prst="ellipse">
            <a:avLst/>
          </a:prstGeom>
          <a:solidFill>
            <a:srgbClr val="3B82F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523" y="249448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17152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9328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컬럼별 결측·문제 유형·품질 점수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32688" y="4270248"/>
            <a:ext cx="731520" cy="731520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883" y="446044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10512" y="4361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Drill-down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2688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컬럼의 </a:t>
            </a:r>
            <a:r>
              <a:rPr lang="en-US" sz="1200" dirty="0" err="1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결측·오류·이상치</a:t>
            </a:r>
            <a:r>
              <a:rPr 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확인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4636008" y="4270248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203" y="446044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13832" y="4361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이슈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36008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20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오류 유형과 발생 비율 요약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429000" cy="1737360"/>
          </a:xfrm>
          <a:prstGeom prst="roundRect">
            <a:avLst>
              <a:gd name="adj" fmla="val 5789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8339328" y="4270248"/>
            <a:ext cx="731520" cy="73152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523" y="4460443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17152" y="4361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이력 (MySQL)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39328" y="5074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저장·조회·추이 확인 및 삭제 관리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기대효과 &amp; 활용 분야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신뢰성과 의사결정 품질을 높인다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737360"/>
          </a:xfrm>
          <a:prstGeom prst="roundRect">
            <a:avLst>
              <a:gd name="adj" fmla="val 5789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423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 저하 예방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65960" y="30175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전에 품질 문제를 걸러 재작업·비용 낭비를 사전 차단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057400"/>
            <a:ext cx="52578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92240" y="237744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10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423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신뢰성 향상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98080" y="30175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객관적 등급·근거로 데이터 기반 판단의 신뢰도 제고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25780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60120" y="4343400"/>
            <a:ext cx="822960" cy="822960"/>
          </a:xfrm>
          <a:prstGeom prst="ellipse">
            <a:avLst/>
          </a:prstGeom>
          <a:solidFill>
            <a:srgbClr val="0FB5D6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090" y="4557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389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폭넓은 활용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65960" y="4983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기업·공공기관의 AI·분석 프로젝트 초기 진단 도구로 적용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257800" cy="1737360"/>
          </a:xfrm>
          <a:prstGeom prst="roundRect">
            <a:avLst>
              <a:gd name="adj" fmla="val 5789"/>
            </a:avLst>
          </a:prstGeom>
          <a:solidFill>
            <a:srgbClr val="EEF3F8"/>
          </a:solidFill>
          <a:ln w="12700">
            <a:solidFill>
              <a:srgbClr val="D5E1EC"/>
            </a:solidFill>
            <a:prstDash val="solid"/>
          </a:ln>
          <a:effectLst>
            <a:outerShdw blurRad="114300" dist="38100" dir="5400000" algn="bl" rotWithShape="0">
              <a:srgbClr val="1B3A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492240" y="4343400"/>
            <a:ext cx="822960" cy="822960"/>
          </a:xfrm>
          <a:prstGeom prst="ellipse">
            <a:avLst/>
          </a:prstGeom>
          <a:solidFill>
            <a:srgbClr val="7C5CFF"/>
          </a:solidFill>
          <a:ln/>
          <a:effectLst>
            <a:outerShdw blurRad="88900" dist="25400" dir="5400000" algn="bl" rotWithShape="0">
              <a:srgbClr val="20476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210" y="45573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89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역량 강화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98080" y="4983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엔지니어링·AI 연동·풀스택 개발 경험 축적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572000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4572000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789920" y="4572000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47120" y="4572000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18320" y="4956048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75520" y="4956048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332720" y="4956048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789920" y="4956048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247120" y="4956048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418320" y="5340096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0" y="5340096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332720" y="5340096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89920" y="5340096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47120" y="5340096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418320" y="5724144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875520" y="5724144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332720" y="5724144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789920" y="5724144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247120" y="5724144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418320" y="6108192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875520" y="6108192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332720" y="6108192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789920" y="6108192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47120" y="6108192"/>
            <a:ext cx="54864" cy="54864"/>
          </a:xfrm>
          <a:prstGeom prst="ellipse">
            <a:avLst/>
          </a:prstGeom>
          <a:solidFill>
            <a:srgbClr val="0FB5D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724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B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0" name="Shape 28"/>
          <p:cNvSpPr/>
          <p:nvPr/>
        </p:nvSpPr>
        <p:spPr>
          <a:xfrm>
            <a:off x="822960" y="5074920"/>
            <a:ext cx="10515600" cy="3658"/>
          </a:xfrm>
          <a:prstGeom prst="line">
            <a:avLst/>
          </a:prstGeom>
          <a:noFill/>
          <a:ln w="19050">
            <a:solidFill>
              <a:srgbClr val="172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7240" y="381130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E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1800</Words>
  <Application>Microsoft Office PowerPoint</Application>
  <PresentationFormat>와이드스크린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AI-Ready Data Scorecard</dc:title>
  <dc:subject>PptxGenJS Presentation</dc:subject>
  <dc:creator>NSY팀</dc:creator>
  <cp:lastModifiedBy>노 건우</cp:lastModifiedBy>
  <cp:revision>6</cp:revision>
  <dcterms:created xsi:type="dcterms:W3CDTF">2026-07-01T05:23:08Z</dcterms:created>
  <dcterms:modified xsi:type="dcterms:W3CDTF">2026-07-01T05:36:36Z</dcterms:modified>
</cp:coreProperties>
</file>